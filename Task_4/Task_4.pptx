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9D70ED-4686-40F2-9172-BFD8EEDCC3E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C6A542A-075C-4F73-860B-EC1631AA42F7}">
      <dgm:prSet/>
      <dgm:spPr/>
      <dgm:t>
        <a:bodyPr/>
        <a:lstStyle/>
        <a:p>
          <a:pPr>
            <a:defRPr b="1"/>
          </a:pPr>
          <a:r>
            <a:rPr lang="en-US"/>
            <a:t>Steps followed:</a:t>
          </a:r>
        </a:p>
      </dgm:t>
    </dgm:pt>
    <dgm:pt modelId="{F78013B4-B0E3-4A28-839A-95AC6EEBB59A}" type="parTrans" cxnId="{1231F201-0BD6-434A-8BD7-19430F39893C}">
      <dgm:prSet/>
      <dgm:spPr/>
      <dgm:t>
        <a:bodyPr/>
        <a:lstStyle/>
        <a:p>
          <a:endParaRPr lang="en-US"/>
        </a:p>
      </dgm:t>
    </dgm:pt>
    <dgm:pt modelId="{6BD49B65-A387-47A9-9DB3-5EC6BE610DF6}" type="sibTrans" cxnId="{1231F201-0BD6-434A-8BD7-19430F39893C}">
      <dgm:prSet/>
      <dgm:spPr/>
      <dgm:t>
        <a:bodyPr/>
        <a:lstStyle/>
        <a:p>
          <a:endParaRPr lang="en-US"/>
        </a:p>
      </dgm:t>
    </dgm:pt>
    <dgm:pt modelId="{7DE627E8-2C62-4348-9227-4BDA42926987}">
      <dgm:prSet/>
      <dgm:spPr/>
      <dgm:t>
        <a:bodyPr/>
        <a:lstStyle/>
        <a:p>
          <a:r>
            <a:rPr lang="en-US"/>
            <a:t>1) Installed Streamlit using pip</a:t>
          </a:r>
        </a:p>
      </dgm:t>
    </dgm:pt>
    <dgm:pt modelId="{891EB169-3F3B-48E7-BDB0-532A7F9B40EE}" type="parTrans" cxnId="{1209923A-70DA-4A3B-B9E6-686CE11BD86F}">
      <dgm:prSet/>
      <dgm:spPr/>
      <dgm:t>
        <a:bodyPr/>
        <a:lstStyle/>
        <a:p>
          <a:endParaRPr lang="en-US"/>
        </a:p>
      </dgm:t>
    </dgm:pt>
    <dgm:pt modelId="{A7443A7B-6724-4850-A99B-593D8F4348F9}" type="sibTrans" cxnId="{1209923A-70DA-4A3B-B9E6-686CE11BD86F}">
      <dgm:prSet/>
      <dgm:spPr/>
      <dgm:t>
        <a:bodyPr/>
        <a:lstStyle/>
        <a:p>
          <a:endParaRPr lang="en-US"/>
        </a:p>
      </dgm:t>
    </dgm:pt>
    <dgm:pt modelId="{3D8EE176-0E91-443F-9446-20ECC594F825}">
      <dgm:prSet/>
      <dgm:spPr/>
      <dgm:t>
        <a:bodyPr/>
        <a:lstStyle/>
        <a:p>
          <a:r>
            <a:rPr lang="en-US"/>
            <a:t>2) Created a Python application (app.py)</a:t>
          </a:r>
        </a:p>
      </dgm:t>
    </dgm:pt>
    <dgm:pt modelId="{A9083582-77D9-4323-95A4-C87D850EB8EE}" type="parTrans" cxnId="{DD8BA944-6814-46F7-8EDA-439C6FB61248}">
      <dgm:prSet/>
      <dgm:spPr/>
      <dgm:t>
        <a:bodyPr/>
        <a:lstStyle/>
        <a:p>
          <a:endParaRPr lang="en-US"/>
        </a:p>
      </dgm:t>
    </dgm:pt>
    <dgm:pt modelId="{E03508B8-0671-45BC-98DA-790240F899DF}" type="sibTrans" cxnId="{DD8BA944-6814-46F7-8EDA-439C6FB61248}">
      <dgm:prSet/>
      <dgm:spPr/>
      <dgm:t>
        <a:bodyPr/>
        <a:lstStyle/>
        <a:p>
          <a:endParaRPr lang="en-US"/>
        </a:p>
      </dgm:t>
    </dgm:pt>
    <dgm:pt modelId="{C995E607-CBCC-4D78-AEDD-85A27A86D417}">
      <dgm:prSet/>
      <dgm:spPr/>
      <dgm:t>
        <a:bodyPr/>
        <a:lstStyle/>
        <a:p>
          <a:r>
            <a:rPr lang="en-US"/>
            <a:t>3) Loaded the dataset games(1).csv</a:t>
          </a:r>
        </a:p>
      </dgm:t>
    </dgm:pt>
    <dgm:pt modelId="{18C95591-97C3-4106-A027-38EA23FB3E50}" type="parTrans" cxnId="{3797E72D-945F-4F58-97A3-AFB33BFC8EDF}">
      <dgm:prSet/>
      <dgm:spPr/>
      <dgm:t>
        <a:bodyPr/>
        <a:lstStyle/>
        <a:p>
          <a:endParaRPr lang="en-US"/>
        </a:p>
      </dgm:t>
    </dgm:pt>
    <dgm:pt modelId="{26F43CB7-DA5B-475C-9F3B-8F4AE2FDA5C8}" type="sibTrans" cxnId="{3797E72D-945F-4F58-97A3-AFB33BFC8EDF}">
      <dgm:prSet/>
      <dgm:spPr/>
      <dgm:t>
        <a:bodyPr/>
        <a:lstStyle/>
        <a:p>
          <a:endParaRPr lang="en-US"/>
        </a:p>
      </dgm:t>
    </dgm:pt>
    <dgm:pt modelId="{A2F70B24-4EBB-45F4-905B-AEA83122AC27}">
      <dgm:prSet/>
      <dgm:spPr/>
      <dgm:t>
        <a:bodyPr/>
        <a:lstStyle/>
        <a:p>
          <a:r>
            <a:rPr lang="en-US"/>
            <a:t>4) Trained a Random Forest model</a:t>
          </a:r>
        </a:p>
      </dgm:t>
    </dgm:pt>
    <dgm:pt modelId="{58384004-D31A-49AE-806C-EE1FA705D8CA}" type="parTrans" cxnId="{AFEA0A27-15A1-4C44-AFEE-3DDEA4394C67}">
      <dgm:prSet/>
      <dgm:spPr/>
      <dgm:t>
        <a:bodyPr/>
        <a:lstStyle/>
        <a:p>
          <a:endParaRPr lang="en-US"/>
        </a:p>
      </dgm:t>
    </dgm:pt>
    <dgm:pt modelId="{DE17B6EA-893A-4416-9C60-3B6A3C52975D}" type="sibTrans" cxnId="{AFEA0A27-15A1-4C44-AFEE-3DDEA4394C67}">
      <dgm:prSet/>
      <dgm:spPr/>
      <dgm:t>
        <a:bodyPr/>
        <a:lstStyle/>
        <a:p>
          <a:endParaRPr lang="en-US"/>
        </a:p>
      </dgm:t>
    </dgm:pt>
    <dgm:pt modelId="{5DF4F8DA-ACFC-4AC9-8A77-4DA858E0649E}">
      <dgm:prSet/>
      <dgm:spPr/>
      <dgm:t>
        <a:bodyPr/>
        <a:lstStyle/>
        <a:p>
          <a:r>
            <a:rPr lang="en-US"/>
            <a:t>5) Built an interactive UI with sliders and dropdown menus</a:t>
          </a:r>
        </a:p>
      </dgm:t>
    </dgm:pt>
    <dgm:pt modelId="{BC7B85C6-35FA-413A-AD3C-7B8D279C1B8D}" type="parTrans" cxnId="{A370A1C5-455F-4F42-B152-A0ABC9608B71}">
      <dgm:prSet/>
      <dgm:spPr/>
      <dgm:t>
        <a:bodyPr/>
        <a:lstStyle/>
        <a:p>
          <a:endParaRPr lang="en-US"/>
        </a:p>
      </dgm:t>
    </dgm:pt>
    <dgm:pt modelId="{A2091F5E-5853-4186-8FED-A7C975B5D8D5}" type="sibTrans" cxnId="{A370A1C5-455F-4F42-B152-A0ABC9608B71}">
      <dgm:prSet/>
      <dgm:spPr/>
      <dgm:t>
        <a:bodyPr/>
        <a:lstStyle/>
        <a:p>
          <a:endParaRPr lang="en-US"/>
        </a:p>
      </dgm:t>
    </dgm:pt>
    <dgm:pt modelId="{77D73BA4-E9D8-4423-8757-98593423DF8C}">
      <dgm:prSet/>
      <dgm:spPr/>
      <dgm:t>
        <a:bodyPr/>
        <a:lstStyle/>
        <a:p>
          <a:r>
            <a:rPr lang="en-US"/>
            <a:t>6) Generated predictions based on user input</a:t>
          </a:r>
        </a:p>
      </dgm:t>
    </dgm:pt>
    <dgm:pt modelId="{10B866BF-47B5-4991-9137-90B8713CB9BC}" type="parTrans" cxnId="{EADA7360-C527-4156-A3C4-E6BCE427B76B}">
      <dgm:prSet/>
      <dgm:spPr/>
      <dgm:t>
        <a:bodyPr/>
        <a:lstStyle/>
        <a:p>
          <a:endParaRPr lang="en-US"/>
        </a:p>
      </dgm:t>
    </dgm:pt>
    <dgm:pt modelId="{9660490A-CD5A-4F87-9569-446D342124F6}" type="sibTrans" cxnId="{EADA7360-C527-4156-A3C4-E6BCE427B76B}">
      <dgm:prSet/>
      <dgm:spPr/>
      <dgm:t>
        <a:bodyPr/>
        <a:lstStyle/>
        <a:p>
          <a:endParaRPr lang="en-US"/>
        </a:p>
      </dgm:t>
    </dgm:pt>
    <dgm:pt modelId="{8B3B78D0-8F1B-4BAB-B141-D96DEAEE73EB}">
      <dgm:prSet/>
      <dgm:spPr/>
      <dgm:t>
        <a:bodyPr/>
        <a:lstStyle/>
        <a:p>
          <a:pPr>
            <a:defRPr b="1"/>
          </a:pPr>
          <a:r>
            <a:rPr lang="en-US"/>
            <a:t>The application predicts </a:t>
          </a:r>
          <a:r>
            <a:rPr lang="en-US" b="1"/>
            <a:t>game success based on historical data</a:t>
          </a:r>
          <a:r>
            <a:rPr lang="en-US"/>
            <a:t>.</a:t>
          </a:r>
        </a:p>
      </dgm:t>
    </dgm:pt>
    <dgm:pt modelId="{73FBD172-3FD1-40FB-9A35-7548A06E6114}" type="parTrans" cxnId="{89F78BAD-D81A-42AA-8CBE-45C32F7E4CD2}">
      <dgm:prSet/>
      <dgm:spPr/>
      <dgm:t>
        <a:bodyPr/>
        <a:lstStyle/>
        <a:p>
          <a:endParaRPr lang="en-US"/>
        </a:p>
      </dgm:t>
    </dgm:pt>
    <dgm:pt modelId="{1A7D97B9-E365-4BEA-9617-749F0F78BCCE}" type="sibTrans" cxnId="{89F78BAD-D81A-42AA-8CBE-45C32F7E4CD2}">
      <dgm:prSet/>
      <dgm:spPr/>
      <dgm:t>
        <a:bodyPr/>
        <a:lstStyle/>
        <a:p>
          <a:endParaRPr lang="en-US"/>
        </a:p>
      </dgm:t>
    </dgm:pt>
    <dgm:pt modelId="{0B64A015-FF68-4154-A22D-621A71CDCDA6}" type="pres">
      <dgm:prSet presAssocID="{E29D70ED-4686-40F2-9172-BFD8EEDCC3ED}" presName="root" presStyleCnt="0">
        <dgm:presLayoutVars>
          <dgm:dir/>
          <dgm:resizeHandles val="exact"/>
        </dgm:presLayoutVars>
      </dgm:prSet>
      <dgm:spPr/>
    </dgm:pt>
    <dgm:pt modelId="{316AE321-9E0A-44A2-8DDB-BE94360E5C32}" type="pres">
      <dgm:prSet presAssocID="{7C6A542A-075C-4F73-860B-EC1631AA42F7}" presName="compNode" presStyleCnt="0"/>
      <dgm:spPr/>
    </dgm:pt>
    <dgm:pt modelId="{4D3DA4C6-492F-486C-B3B5-B6487F9C7F1E}" type="pres">
      <dgm:prSet presAssocID="{7C6A542A-075C-4F73-860B-EC1631AA42F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B04DF97-48A3-41C0-8D63-83C256C76FEC}" type="pres">
      <dgm:prSet presAssocID="{7C6A542A-075C-4F73-860B-EC1631AA42F7}" presName="iconSpace" presStyleCnt="0"/>
      <dgm:spPr/>
    </dgm:pt>
    <dgm:pt modelId="{1D49615F-AE71-416C-B57D-FE95716709AE}" type="pres">
      <dgm:prSet presAssocID="{7C6A542A-075C-4F73-860B-EC1631AA42F7}" presName="parTx" presStyleLbl="revTx" presStyleIdx="0" presStyleCnt="4">
        <dgm:presLayoutVars>
          <dgm:chMax val="0"/>
          <dgm:chPref val="0"/>
        </dgm:presLayoutVars>
      </dgm:prSet>
      <dgm:spPr/>
    </dgm:pt>
    <dgm:pt modelId="{AC9A7731-CEA7-4373-B8A7-C41B58AEE995}" type="pres">
      <dgm:prSet presAssocID="{7C6A542A-075C-4F73-860B-EC1631AA42F7}" presName="txSpace" presStyleCnt="0"/>
      <dgm:spPr/>
    </dgm:pt>
    <dgm:pt modelId="{CB862215-FCDD-4576-8AA7-171A4E5EFDA2}" type="pres">
      <dgm:prSet presAssocID="{7C6A542A-075C-4F73-860B-EC1631AA42F7}" presName="desTx" presStyleLbl="revTx" presStyleIdx="1" presStyleCnt="4">
        <dgm:presLayoutVars/>
      </dgm:prSet>
      <dgm:spPr/>
    </dgm:pt>
    <dgm:pt modelId="{40D5F32D-1ED3-4C09-A087-224E82D9ADAB}" type="pres">
      <dgm:prSet presAssocID="{6BD49B65-A387-47A9-9DB3-5EC6BE610DF6}" presName="sibTrans" presStyleCnt="0"/>
      <dgm:spPr/>
    </dgm:pt>
    <dgm:pt modelId="{1CEB7190-BF4F-4836-A24B-8962723440F7}" type="pres">
      <dgm:prSet presAssocID="{8B3B78D0-8F1B-4BAB-B141-D96DEAEE73EB}" presName="compNode" presStyleCnt="0"/>
      <dgm:spPr/>
    </dgm:pt>
    <dgm:pt modelId="{E0045B8C-F93B-4705-A021-9DE5F9F9CD41}" type="pres">
      <dgm:prSet presAssocID="{8B3B78D0-8F1B-4BAB-B141-D96DEAEE73E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2FBA00DA-6476-45D4-AB09-DCC197408DC1}" type="pres">
      <dgm:prSet presAssocID="{8B3B78D0-8F1B-4BAB-B141-D96DEAEE73EB}" presName="iconSpace" presStyleCnt="0"/>
      <dgm:spPr/>
    </dgm:pt>
    <dgm:pt modelId="{45129ED4-3CD2-4DA4-BF12-3442DA17CD0F}" type="pres">
      <dgm:prSet presAssocID="{8B3B78D0-8F1B-4BAB-B141-D96DEAEE73EB}" presName="parTx" presStyleLbl="revTx" presStyleIdx="2" presStyleCnt="4">
        <dgm:presLayoutVars>
          <dgm:chMax val="0"/>
          <dgm:chPref val="0"/>
        </dgm:presLayoutVars>
      </dgm:prSet>
      <dgm:spPr/>
    </dgm:pt>
    <dgm:pt modelId="{21400717-9722-4573-97FB-2B2088CF67BD}" type="pres">
      <dgm:prSet presAssocID="{8B3B78D0-8F1B-4BAB-B141-D96DEAEE73EB}" presName="txSpace" presStyleCnt="0"/>
      <dgm:spPr/>
    </dgm:pt>
    <dgm:pt modelId="{B9DB3543-9709-4ED8-A303-8A72B2385FAC}" type="pres">
      <dgm:prSet presAssocID="{8B3B78D0-8F1B-4BAB-B141-D96DEAEE73EB}" presName="desTx" presStyleLbl="revTx" presStyleIdx="3" presStyleCnt="4">
        <dgm:presLayoutVars/>
      </dgm:prSet>
      <dgm:spPr/>
    </dgm:pt>
  </dgm:ptLst>
  <dgm:cxnLst>
    <dgm:cxn modelId="{1324C000-E78E-48A3-B1BA-7E19EE89F6B8}" type="presOf" srcId="{E29D70ED-4686-40F2-9172-BFD8EEDCC3ED}" destId="{0B64A015-FF68-4154-A22D-621A71CDCDA6}" srcOrd="0" destOrd="0" presId="urn:microsoft.com/office/officeart/2018/2/layout/IconLabelDescriptionList"/>
    <dgm:cxn modelId="{1231F201-0BD6-434A-8BD7-19430F39893C}" srcId="{E29D70ED-4686-40F2-9172-BFD8EEDCC3ED}" destId="{7C6A542A-075C-4F73-860B-EC1631AA42F7}" srcOrd="0" destOrd="0" parTransId="{F78013B4-B0E3-4A28-839A-95AC6EEBB59A}" sibTransId="{6BD49B65-A387-47A9-9DB3-5EC6BE610DF6}"/>
    <dgm:cxn modelId="{AFEA0A27-15A1-4C44-AFEE-3DDEA4394C67}" srcId="{7C6A542A-075C-4F73-860B-EC1631AA42F7}" destId="{A2F70B24-4EBB-45F4-905B-AEA83122AC27}" srcOrd="3" destOrd="0" parTransId="{58384004-D31A-49AE-806C-EE1FA705D8CA}" sibTransId="{DE17B6EA-893A-4416-9C60-3B6A3C52975D}"/>
    <dgm:cxn modelId="{3797E72D-945F-4F58-97A3-AFB33BFC8EDF}" srcId="{7C6A542A-075C-4F73-860B-EC1631AA42F7}" destId="{C995E607-CBCC-4D78-AEDD-85A27A86D417}" srcOrd="2" destOrd="0" parTransId="{18C95591-97C3-4106-A027-38EA23FB3E50}" sibTransId="{26F43CB7-DA5B-475C-9F3B-8F4AE2FDA5C8}"/>
    <dgm:cxn modelId="{E80F7B3A-02A3-482C-BE12-E7AE1D6D9105}" type="presOf" srcId="{3D8EE176-0E91-443F-9446-20ECC594F825}" destId="{CB862215-FCDD-4576-8AA7-171A4E5EFDA2}" srcOrd="0" destOrd="1" presId="urn:microsoft.com/office/officeart/2018/2/layout/IconLabelDescriptionList"/>
    <dgm:cxn modelId="{1209923A-70DA-4A3B-B9E6-686CE11BD86F}" srcId="{7C6A542A-075C-4F73-860B-EC1631AA42F7}" destId="{7DE627E8-2C62-4348-9227-4BDA42926987}" srcOrd="0" destOrd="0" parTransId="{891EB169-3F3B-48E7-BDB0-532A7F9B40EE}" sibTransId="{A7443A7B-6724-4850-A99B-593D8F4348F9}"/>
    <dgm:cxn modelId="{EADA7360-C527-4156-A3C4-E6BCE427B76B}" srcId="{7C6A542A-075C-4F73-860B-EC1631AA42F7}" destId="{77D73BA4-E9D8-4423-8757-98593423DF8C}" srcOrd="5" destOrd="0" parTransId="{10B866BF-47B5-4991-9137-90B8713CB9BC}" sibTransId="{9660490A-CD5A-4F87-9569-446D342124F6}"/>
    <dgm:cxn modelId="{87C95644-6A75-4C6C-A006-3641FD35D80F}" type="presOf" srcId="{8B3B78D0-8F1B-4BAB-B141-D96DEAEE73EB}" destId="{45129ED4-3CD2-4DA4-BF12-3442DA17CD0F}" srcOrd="0" destOrd="0" presId="urn:microsoft.com/office/officeart/2018/2/layout/IconLabelDescriptionList"/>
    <dgm:cxn modelId="{DD8BA944-6814-46F7-8EDA-439C6FB61248}" srcId="{7C6A542A-075C-4F73-860B-EC1631AA42F7}" destId="{3D8EE176-0E91-443F-9446-20ECC594F825}" srcOrd="1" destOrd="0" parTransId="{A9083582-77D9-4323-95A4-C87D850EB8EE}" sibTransId="{E03508B8-0671-45BC-98DA-790240F899DF}"/>
    <dgm:cxn modelId="{EC78CA72-1E64-4654-88EB-5DD736155699}" type="presOf" srcId="{7C6A542A-075C-4F73-860B-EC1631AA42F7}" destId="{1D49615F-AE71-416C-B57D-FE95716709AE}" srcOrd="0" destOrd="0" presId="urn:microsoft.com/office/officeart/2018/2/layout/IconLabelDescriptionList"/>
    <dgm:cxn modelId="{87E3B87A-2B49-4DF9-BD56-4F7C64AC96F0}" type="presOf" srcId="{7DE627E8-2C62-4348-9227-4BDA42926987}" destId="{CB862215-FCDD-4576-8AA7-171A4E5EFDA2}" srcOrd="0" destOrd="0" presId="urn:microsoft.com/office/officeart/2018/2/layout/IconLabelDescriptionList"/>
    <dgm:cxn modelId="{C13BA0A6-042E-4AEA-8698-7EAF99872B34}" type="presOf" srcId="{77D73BA4-E9D8-4423-8757-98593423DF8C}" destId="{CB862215-FCDD-4576-8AA7-171A4E5EFDA2}" srcOrd="0" destOrd="5" presId="urn:microsoft.com/office/officeart/2018/2/layout/IconLabelDescriptionList"/>
    <dgm:cxn modelId="{89F78BAD-D81A-42AA-8CBE-45C32F7E4CD2}" srcId="{E29D70ED-4686-40F2-9172-BFD8EEDCC3ED}" destId="{8B3B78D0-8F1B-4BAB-B141-D96DEAEE73EB}" srcOrd="1" destOrd="0" parTransId="{73FBD172-3FD1-40FB-9A35-7548A06E6114}" sibTransId="{1A7D97B9-E365-4BEA-9617-749F0F78BCCE}"/>
    <dgm:cxn modelId="{117006B5-978A-4344-88B3-5B64820612FB}" type="presOf" srcId="{C995E607-CBCC-4D78-AEDD-85A27A86D417}" destId="{CB862215-FCDD-4576-8AA7-171A4E5EFDA2}" srcOrd="0" destOrd="2" presId="urn:microsoft.com/office/officeart/2018/2/layout/IconLabelDescriptionList"/>
    <dgm:cxn modelId="{A370A1C5-455F-4F42-B152-A0ABC9608B71}" srcId="{7C6A542A-075C-4F73-860B-EC1631AA42F7}" destId="{5DF4F8DA-ACFC-4AC9-8A77-4DA858E0649E}" srcOrd="4" destOrd="0" parTransId="{BC7B85C6-35FA-413A-AD3C-7B8D279C1B8D}" sibTransId="{A2091F5E-5853-4186-8FED-A7C975B5D8D5}"/>
    <dgm:cxn modelId="{3188CFC7-204D-4B98-B2AB-80BBEF94399E}" type="presOf" srcId="{A2F70B24-4EBB-45F4-905B-AEA83122AC27}" destId="{CB862215-FCDD-4576-8AA7-171A4E5EFDA2}" srcOrd="0" destOrd="3" presId="urn:microsoft.com/office/officeart/2018/2/layout/IconLabelDescriptionList"/>
    <dgm:cxn modelId="{E2EB2DE1-303D-46C1-9C47-7AE4E614D4D1}" type="presOf" srcId="{5DF4F8DA-ACFC-4AC9-8A77-4DA858E0649E}" destId="{CB862215-FCDD-4576-8AA7-171A4E5EFDA2}" srcOrd="0" destOrd="4" presId="urn:microsoft.com/office/officeart/2018/2/layout/IconLabelDescriptionList"/>
    <dgm:cxn modelId="{8B3D93BE-5C34-49D7-831D-E166A709C504}" type="presParOf" srcId="{0B64A015-FF68-4154-A22D-621A71CDCDA6}" destId="{316AE321-9E0A-44A2-8DDB-BE94360E5C32}" srcOrd="0" destOrd="0" presId="urn:microsoft.com/office/officeart/2018/2/layout/IconLabelDescriptionList"/>
    <dgm:cxn modelId="{AA3AEDA2-914B-4380-AA88-BD0DE19DF679}" type="presParOf" srcId="{316AE321-9E0A-44A2-8DDB-BE94360E5C32}" destId="{4D3DA4C6-492F-486C-B3B5-B6487F9C7F1E}" srcOrd="0" destOrd="0" presId="urn:microsoft.com/office/officeart/2018/2/layout/IconLabelDescriptionList"/>
    <dgm:cxn modelId="{1851DAC1-9A4E-49E0-A031-2AFBECD8BA56}" type="presParOf" srcId="{316AE321-9E0A-44A2-8DDB-BE94360E5C32}" destId="{BB04DF97-48A3-41C0-8D63-83C256C76FEC}" srcOrd="1" destOrd="0" presId="urn:microsoft.com/office/officeart/2018/2/layout/IconLabelDescriptionList"/>
    <dgm:cxn modelId="{653DB137-D7EC-4DC5-BDCE-C1C554C7F6CC}" type="presParOf" srcId="{316AE321-9E0A-44A2-8DDB-BE94360E5C32}" destId="{1D49615F-AE71-416C-B57D-FE95716709AE}" srcOrd="2" destOrd="0" presId="urn:microsoft.com/office/officeart/2018/2/layout/IconLabelDescriptionList"/>
    <dgm:cxn modelId="{07604F9C-2D37-4233-B7EA-4DCD2B5F8486}" type="presParOf" srcId="{316AE321-9E0A-44A2-8DDB-BE94360E5C32}" destId="{AC9A7731-CEA7-4373-B8A7-C41B58AEE995}" srcOrd="3" destOrd="0" presId="urn:microsoft.com/office/officeart/2018/2/layout/IconLabelDescriptionList"/>
    <dgm:cxn modelId="{69C91595-BD55-435C-B4C2-096DE0F540AA}" type="presParOf" srcId="{316AE321-9E0A-44A2-8DDB-BE94360E5C32}" destId="{CB862215-FCDD-4576-8AA7-171A4E5EFDA2}" srcOrd="4" destOrd="0" presId="urn:microsoft.com/office/officeart/2018/2/layout/IconLabelDescriptionList"/>
    <dgm:cxn modelId="{F8CBC74A-75B5-442D-88EC-1485F60D32DB}" type="presParOf" srcId="{0B64A015-FF68-4154-A22D-621A71CDCDA6}" destId="{40D5F32D-1ED3-4C09-A087-224E82D9ADAB}" srcOrd="1" destOrd="0" presId="urn:microsoft.com/office/officeart/2018/2/layout/IconLabelDescriptionList"/>
    <dgm:cxn modelId="{1C8BFC80-1422-4EDD-8B14-7678B9AA0B81}" type="presParOf" srcId="{0B64A015-FF68-4154-A22D-621A71CDCDA6}" destId="{1CEB7190-BF4F-4836-A24B-8962723440F7}" srcOrd="2" destOrd="0" presId="urn:microsoft.com/office/officeart/2018/2/layout/IconLabelDescriptionList"/>
    <dgm:cxn modelId="{EB12F4CB-5239-441D-9D2D-C463BF0F63C2}" type="presParOf" srcId="{1CEB7190-BF4F-4836-A24B-8962723440F7}" destId="{E0045B8C-F93B-4705-A021-9DE5F9F9CD41}" srcOrd="0" destOrd="0" presId="urn:microsoft.com/office/officeart/2018/2/layout/IconLabelDescriptionList"/>
    <dgm:cxn modelId="{DAA8FF2E-23C4-432C-A761-94942A10CABE}" type="presParOf" srcId="{1CEB7190-BF4F-4836-A24B-8962723440F7}" destId="{2FBA00DA-6476-45D4-AB09-DCC197408DC1}" srcOrd="1" destOrd="0" presId="urn:microsoft.com/office/officeart/2018/2/layout/IconLabelDescriptionList"/>
    <dgm:cxn modelId="{E62AE84F-C2B8-4648-9E81-A8B181F43C31}" type="presParOf" srcId="{1CEB7190-BF4F-4836-A24B-8962723440F7}" destId="{45129ED4-3CD2-4DA4-BF12-3442DA17CD0F}" srcOrd="2" destOrd="0" presId="urn:microsoft.com/office/officeart/2018/2/layout/IconLabelDescriptionList"/>
    <dgm:cxn modelId="{D0AA08B6-872B-47E6-9888-008008DCCBD5}" type="presParOf" srcId="{1CEB7190-BF4F-4836-A24B-8962723440F7}" destId="{21400717-9722-4573-97FB-2B2088CF67BD}" srcOrd="3" destOrd="0" presId="urn:microsoft.com/office/officeart/2018/2/layout/IconLabelDescriptionList"/>
    <dgm:cxn modelId="{D3C04C61-5AF8-44C7-8984-95A6E52DDFA5}" type="presParOf" srcId="{1CEB7190-BF4F-4836-A24B-8962723440F7}" destId="{B9DB3543-9709-4ED8-A303-8A72B2385FA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DA4C6-492F-486C-B3B5-B6487F9C7F1E}">
      <dsp:nvSpPr>
        <dsp:cNvPr id="0" name=""/>
        <dsp:cNvSpPr/>
      </dsp:nvSpPr>
      <dsp:spPr>
        <a:xfrm>
          <a:off x="564387" y="23850"/>
          <a:ext cx="1510523" cy="14315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9615F-AE71-416C-B57D-FE95716709AE}">
      <dsp:nvSpPr>
        <dsp:cNvPr id="0" name=""/>
        <dsp:cNvSpPr/>
      </dsp:nvSpPr>
      <dsp:spPr>
        <a:xfrm>
          <a:off x="564387" y="1632772"/>
          <a:ext cx="4315781" cy="613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Steps followed:</a:t>
          </a:r>
        </a:p>
      </dsp:txBody>
      <dsp:txXfrm>
        <a:off x="564387" y="1632772"/>
        <a:ext cx="4315781" cy="613539"/>
      </dsp:txXfrm>
    </dsp:sp>
    <dsp:sp modelId="{CB862215-FCDD-4576-8AA7-171A4E5EFDA2}">
      <dsp:nvSpPr>
        <dsp:cNvPr id="0" name=""/>
        <dsp:cNvSpPr/>
      </dsp:nvSpPr>
      <dsp:spPr>
        <a:xfrm>
          <a:off x="564387" y="2328790"/>
          <a:ext cx="4315781" cy="1998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1) Installed Streamlit using pip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2) Created a Python application (app.py)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3) Loaded the dataset games(1).csv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4) Trained a Random Forest model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5) Built an interactive UI with sliders and dropdown menus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6) Generated predictions based on user input</a:t>
          </a:r>
        </a:p>
      </dsp:txBody>
      <dsp:txXfrm>
        <a:off x="564387" y="2328790"/>
        <a:ext cx="4315781" cy="1998697"/>
      </dsp:txXfrm>
    </dsp:sp>
    <dsp:sp modelId="{E0045B8C-F93B-4705-A021-9DE5F9F9CD41}">
      <dsp:nvSpPr>
        <dsp:cNvPr id="0" name=""/>
        <dsp:cNvSpPr/>
      </dsp:nvSpPr>
      <dsp:spPr>
        <a:xfrm>
          <a:off x="5635430" y="23850"/>
          <a:ext cx="1510523" cy="14315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29ED4-3CD2-4DA4-BF12-3442DA17CD0F}">
      <dsp:nvSpPr>
        <dsp:cNvPr id="0" name=""/>
        <dsp:cNvSpPr/>
      </dsp:nvSpPr>
      <dsp:spPr>
        <a:xfrm>
          <a:off x="5635430" y="1632772"/>
          <a:ext cx="4315781" cy="613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The application predicts </a:t>
          </a:r>
          <a:r>
            <a:rPr lang="en-US" sz="2100" b="1" kern="1200"/>
            <a:t>game success based on historical data</a:t>
          </a:r>
          <a:r>
            <a:rPr lang="en-US" sz="2100" kern="1200"/>
            <a:t>.</a:t>
          </a:r>
        </a:p>
      </dsp:txBody>
      <dsp:txXfrm>
        <a:off x="5635430" y="1632772"/>
        <a:ext cx="4315781" cy="613539"/>
      </dsp:txXfrm>
    </dsp:sp>
    <dsp:sp modelId="{B9DB3543-9709-4ED8-A303-8A72B2385FAC}">
      <dsp:nvSpPr>
        <dsp:cNvPr id="0" name=""/>
        <dsp:cNvSpPr/>
      </dsp:nvSpPr>
      <dsp:spPr>
        <a:xfrm>
          <a:off x="5635430" y="2328790"/>
          <a:ext cx="4315781" cy="1998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DCF7-BBEB-1433-BEDB-29F4F63C8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ADA99-3402-0526-0CFC-139A69115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D7D9B-A08F-34EB-B4CC-582A2CAE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FC005-AB77-F251-7713-079ADD05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70D19-8BEB-7DFF-CB4E-53BBFE4D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8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14067-4881-076E-8F89-7BD274BC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CE75-F55D-C5B8-D7F4-DD6ADF87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069B3-2407-FE81-5E03-F7021577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4710C-5BFF-458A-7E19-2EC6EA94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FB21-7D36-1104-D04D-FF3DBE69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8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615D-694E-5EE3-7AAC-881D7AED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C210F-6A4A-5CEC-B24C-2F99AB16B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5C85C-4EA5-1DEB-8FC2-D208A62E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BDB37-1154-36ED-2759-8910119C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73205-B948-6BB0-411F-821D2441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0B836-B40B-E377-E2A3-060950E5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2DCB3-7787-4D8B-44FC-81E64A42B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D7C5D-4B94-ED72-8FAB-AB081E171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82262-9D79-B67B-CDDB-FAA41B3E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270BE-AEB3-F7C2-D3E6-1489B082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AC048-62F0-C53F-D159-BA956AB5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4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2B9F3-2C05-8B65-8838-C1817506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60B9-3ECF-2B11-FC57-19A0BC6B7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D8773-B477-F523-9309-5FBFA00D6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B5A98-E813-CDBE-DEF4-1AAA111C7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801488-8DEB-B001-2E7C-8B61102E6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33F9B-E315-532D-8384-D92FD3EF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FD289-3FF3-DE40-56E9-A4A218BD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63A3B-3467-0883-39EC-E0DA970E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0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C51C-2C96-F049-E190-0CF936F6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723C1-D8A5-5B44-CC6F-57637DFEB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6DBD6A-1102-B710-C96A-40BBC7EA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CE755-18D5-AB3E-738E-5021A7E6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6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23D6E-C744-5070-677D-7E5D4389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D49DEA-04E2-042E-0884-8863FD63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0ED21-6277-8026-6599-ACD7B139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ED24-2834-B966-4C42-2754460C1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D8594-032E-043A-3576-58AF3E993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4B77C-BAC6-F0FE-9642-14009084F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B822B-F2C9-D013-14C6-AEFFC25C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C7C3B-892F-918A-DDBB-50F248FD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03E8E-93A4-815B-5567-804FC988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5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A14A-A5F6-9948-ED69-A34A36DC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83E789-ABDD-66BA-7FC5-B30A70A35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500DE-5145-6E95-C4F4-F1F1FA975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AF2C5-CE78-4221-601B-5BEDA536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8F6D6-A9CC-E12A-53FB-BBD7CDF97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8A694-C646-16D8-0B0D-F9B4199BC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3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0F5A-A67B-1681-4216-721016FB3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9E652-3EB6-5B16-A83C-9277D3A54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75B93-1027-E79C-A2A3-1D00019B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BB24D-128D-4C98-F1DF-9C3C02DC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F6E14-5AF2-60A8-F0E7-8A399764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1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43AD3-0FA4-20E4-7D0C-44871C27E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F9C69-E463-AD68-F90C-001139972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367D2-65B5-342E-9AA8-5CAE6DE2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FBB2D-F2EC-0E6B-C566-AED7A74B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5DF60-8D9B-C07C-E59F-1AF0077A2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66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460B18-1970-8EE1-448F-CD4516D3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1F98C-D1F3-7045-3065-066B58D69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0334A-E70D-9B0A-4184-05E017605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4D23F-13C9-48FB-B0AF-8ABC0428CBD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B9D1-37BF-D9EF-60B4-E25134AC7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268D6-8E48-70D4-9810-0B7393DC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E15FA-92CE-41A3-B90F-81AFF32D2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5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911D8E8-C034-20FD-E0F0-6A835D988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🎮 </a:t>
            </a:r>
            <a:r>
              <a:rPr lang="en-US" sz="5200" i="1">
                <a:solidFill>
                  <a:schemeClr val="tx2"/>
                </a:solidFill>
              </a:rPr>
              <a:t>Enhancing Game Success Prediction using Streamlit</a:t>
            </a:r>
            <a:endParaRPr lang="en-US" sz="52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354D5-A265-D0F0-7F57-AEC5D21BD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Specialized ML Framework Demonstration</a:t>
            </a:r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247FAD6-520B-B187-99C9-96CE672FE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394" y="4963671"/>
            <a:ext cx="659420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Name: Aditya Bahira</a:t>
            </a: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Course: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Task: Explore &amp; Present – Specialized ML Frameworks</a:t>
            </a:r>
          </a:p>
        </p:txBody>
      </p:sp>
    </p:spTree>
    <p:extLst>
      <p:ext uri="{BB962C8B-B14F-4D97-AF65-F5344CB8AC3E}">
        <p14:creationId xmlns:p14="http://schemas.microsoft.com/office/powerpoint/2010/main" val="44451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5133A-75F1-7566-6EFD-240F9F39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are Specialized ML Tools?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B2ACA-7E12-8F6E-1240-F8AEE9DD4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Specialized Machine Learning tools help improve different stages of the ML workflow such as: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Model development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Data visualization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Model deployment</a:t>
            </a:r>
          </a:p>
          <a:p>
            <a:r>
              <a:rPr lang="en-US" sz="1800">
                <a:solidFill>
                  <a:schemeClr val="tx2"/>
                </a:solidFill>
              </a:rPr>
              <a:t>Examples include: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PyCaret</a:t>
            </a:r>
            <a:r>
              <a:rPr lang="en-US" sz="1800">
                <a:solidFill>
                  <a:schemeClr val="tx2"/>
                </a:solidFill>
              </a:rPr>
              <a:t> (AutoML)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Plotly/Bokeh</a:t>
            </a:r>
            <a:r>
              <a:rPr lang="en-US" sz="1800">
                <a:solidFill>
                  <a:schemeClr val="tx2"/>
                </a:solidFill>
              </a:rPr>
              <a:t> (Interactive visualization)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Streamlit</a:t>
            </a:r>
            <a:r>
              <a:rPr lang="en-US" sz="1800">
                <a:solidFill>
                  <a:schemeClr val="tx2"/>
                </a:solidFill>
              </a:rPr>
              <a:t> (Model deployment)</a:t>
            </a:r>
          </a:p>
          <a:p>
            <a:r>
              <a:rPr lang="en-US" sz="1800">
                <a:solidFill>
                  <a:schemeClr val="tx2"/>
                </a:solidFill>
              </a:rPr>
              <a:t>For this project, </a:t>
            </a:r>
            <a:r>
              <a:rPr lang="en-US" sz="1800" b="1">
                <a:solidFill>
                  <a:schemeClr val="tx2"/>
                </a:solidFill>
              </a:rPr>
              <a:t>Streamlit</a:t>
            </a:r>
            <a:r>
              <a:rPr lang="en-US" sz="1800">
                <a:solidFill>
                  <a:schemeClr val="tx2"/>
                </a:solidFill>
              </a:rPr>
              <a:t> was selected.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60E030C2-3C26-134F-1D8F-A230B6FFB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61" r="19102" b="-1"/>
          <a:stretch>
            <a:fillRect/>
          </a:stretch>
        </p:blipFill>
        <p:spPr>
          <a:xfrm>
            <a:off x="8572197" y="1629089"/>
            <a:ext cx="2719078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1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D4C39-4DA5-ADC6-DF44-21659A11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is Streamlit?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4C11C-38F2-9F59-5112-8A39537B7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Streamlit is an open-source Python framework used to build </a:t>
            </a:r>
            <a:r>
              <a:rPr lang="en-US" sz="1800" b="1">
                <a:solidFill>
                  <a:schemeClr val="tx2"/>
                </a:solidFill>
              </a:rPr>
              <a:t>interactive web applications for machine learning models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r>
              <a:rPr lang="en-US" sz="1800">
                <a:solidFill>
                  <a:schemeClr val="tx2"/>
                </a:solidFill>
              </a:rPr>
              <a:t>Key features: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Simple Python-based interface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Real-time interaction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Fast deployment of ML models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No web development knowledge required</a:t>
            </a:r>
          </a:p>
          <a:p>
            <a:r>
              <a:rPr lang="en-US" sz="1800">
                <a:solidFill>
                  <a:schemeClr val="tx2"/>
                </a:solidFill>
              </a:rPr>
              <a:t>Streamlit allows ML models to be </a:t>
            </a:r>
            <a:r>
              <a:rPr lang="en-US" sz="1800" b="1">
                <a:solidFill>
                  <a:schemeClr val="tx2"/>
                </a:solidFill>
              </a:rPr>
              <a:t>converted into usable applications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90325E44-A70E-6FC2-6052-F9BDEEB72F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7" r="11743"/>
          <a:stretch>
            <a:fillRect/>
          </a:stretch>
        </p:blipFill>
        <p:spPr>
          <a:xfrm>
            <a:off x="8343739" y="1532622"/>
            <a:ext cx="3214095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DEAA1-6B68-83C6-684F-E94F5FB3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How Streamlit Enhances the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AA4E0-98BC-EC70-175B-EDD3F6B67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2"/>
                </a:solidFill>
              </a:rPr>
              <a:t>The original notebook performs: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Data preprocessing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Exploratory data analysis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Model training</a:t>
            </a:r>
          </a:p>
          <a:p>
            <a:r>
              <a:rPr lang="en-US" sz="1700">
                <a:solidFill>
                  <a:schemeClr val="tx2"/>
                </a:solidFill>
              </a:rPr>
              <a:t>Using Streamlit, this analysis can be transformed into an </a:t>
            </a:r>
            <a:r>
              <a:rPr lang="en-US" sz="1700" b="1">
                <a:solidFill>
                  <a:schemeClr val="tx2"/>
                </a:solidFill>
              </a:rPr>
              <a:t>interactive prediction tool</a:t>
            </a:r>
            <a:r>
              <a:rPr lang="en-US" sz="1700">
                <a:solidFill>
                  <a:schemeClr val="tx2"/>
                </a:solidFill>
              </a:rPr>
              <a:t>.</a:t>
            </a:r>
          </a:p>
          <a:p>
            <a:r>
              <a:rPr lang="en-US" sz="1700">
                <a:solidFill>
                  <a:schemeClr val="tx2"/>
                </a:solidFill>
              </a:rPr>
              <a:t>Users can now:</a:t>
            </a:r>
          </a:p>
          <a:p>
            <a:pPr lvl="1"/>
            <a:r>
              <a:rPr lang="en-US" sz="1700">
                <a:solidFill>
                  <a:schemeClr val="tx2"/>
                </a:solidFill>
              </a:rPr>
              <a:t>Enter </a:t>
            </a:r>
            <a:r>
              <a:rPr lang="en-US" sz="1700" b="1">
                <a:solidFill>
                  <a:schemeClr val="tx2"/>
                </a:solidFill>
              </a:rPr>
              <a:t>critic score</a:t>
            </a:r>
            <a:endParaRPr lang="en-US" sz="1700">
              <a:solidFill>
                <a:schemeClr val="tx2"/>
              </a:solidFill>
            </a:endParaRPr>
          </a:p>
          <a:p>
            <a:pPr lvl="1"/>
            <a:r>
              <a:rPr lang="en-US" sz="1700">
                <a:solidFill>
                  <a:schemeClr val="tx2"/>
                </a:solidFill>
              </a:rPr>
              <a:t>Enter </a:t>
            </a:r>
            <a:r>
              <a:rPr lang="en-US" sz="1700" b="1">
                <a:solidFill>
                  <a:schemeClr val="tx2"/>
                </a:solidFill>
              </a:rPr>
              <a:t>user score</a:t>
            </a:r>
            <a:endParaRPr lang="en-US" sz="1700">
              <a:solidFill>
                <a:schemeClr val="tx2"/>
              </a:solidFill>
            </a:endParaRPr>
          </a:p>
          <a:p>
            <a:pPr lvl="1"/>
            <a:r>
              <a:rPr lang="en-US" sz="1700">
                <a:solidFill>
                  <a:schemeClr val="tx2"/>
                </a:solidFill>
              </a:rPr>
              <a:t>Select </a:t>
            </a:r>
            <a:r>
              <a:rPr lang="en-US" sz="1700" b="1">
                <a:solidFill>
                  <a:schemeClr val="tx2"/>
                </a:solidFill>
              </a:rPr>
              <a:t>genre and platform</a:t>
            </a:r>
            <a:endParaRPr lang="en-US" sz="1700">
              <a:solidFill>
                <a:schemeClr val="tx2"/>
              </a:solidFill>
            </a:endParaRPr>
          </a:p>
          <a:p>
            <a:pPr lvl="1"/>
            <a:r>
              <a:rPr lang="en-US" sz="1700">
                <a:solidFill>
                  <a:schemeClr val="tx2"/>
                </a:solidFill>
              </a:rPr>
              <a:t>Predict whether a game will be successful</a:t>
            </a:r>
          </a:p>
          <a:p>
            <a:endParaRPr lang="en-US" sz="170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829B3449-6FE9-8B7E-7F1D-E23F49486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32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CF915-592F-836B-8339-3599412F7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Implementation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58216B-D54F-D73F-DD1A-5FEB6C4307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4188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949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4AAB-669C-9278-ABCD-F199CB6A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33" y="-83178"/>
            <a:ext cx="10515600" cy="1325563"/>
          </a:xfrm>
        </p:spPr>
        <p:txBody>
          <a:bodyPr/>
          <a:lstStyle/>
          <a:p>
            <a:r>
              <a:rPr lang="en-US" dirty="0"/>
              <a:t>Demonstration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36FF87-F8A2-0575-3650-F10FA3808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33" y="1071854"/>
            <a:ext cx="10140320" cy="570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9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BB2AB-59DC-4809-4FC5-A2511F2A3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62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1C4807-36A3-3D2B-DC6D-9FAD7A940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1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617F93-3207-D7A4-DB6C-5DEA0CCC9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55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10344A-D6EA-8095-A4A9-F9FD55572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24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04A35-6EBC-C054-70D9-A80D3FF7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4E4FE-3845-0553-1A87-EF7F60ADC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Streamlit significantly enhances machine learning projects by allowing models to be </a:t>
            </a:r>
            <a:r>
              <a:rPr lang="en-US" sz="1800" b="1">
                <a:solidFill>
                  <a:schemeClr val="tx2"/>
                </a:solidFill>
              </a:rPr>
              <a:t>deployed as interactive applications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r>
              <a:rPr lang="en-US" sz="1800">
                <a:solidFill>
                  <a:schemeClr val="tx2"/>
                </a:solidFill>
              </a:rPr>
              <a:t>Benefits: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Makes ML results accessible to non-technical users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Enables real-time predictions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Improves usability of data analysis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This tool demonstrates how machine learning models can be </a:t>
            </a:r>
            <a:r>
              <a:rPr lang="en-US" sz="1800" b="1">
                <a:solidFill>
                  <a:schemeClr val="tx2"/>
                </a:solidFill>
              </a:rPr>
              <a:t>converted into practical applications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F3446AC2-B96F-6EF7-A3B9-C72201B0C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25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300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🎮 Enhancing Game Success Prediction using Streamlit</vt:lpstr>
      <vt:lpstr>What are Specialized ML Tools?</vt:lpstr>
      <vt:lpstr>What is Streamlit?</vt:lpstr>
      <vt:lpstr>How Streamlit Enhances the Notebook</vt:lpstr>
      <vt:lpstr>Implementation</vt:lpstr>
      <vt:lpstr>Demonstration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BAHIRA</dc:creator>
  <cp:lastModifiedBy>ADITYA BAHIRA</cp:lastModifiedBy>
  <cp:revision>2</cp:revision>
  <dcterms:created xsi:type="dcterms:W3CDTF">2026-03-05T15:45:02Z</dcterms:created>
  <dcterms:modified xsi:type="dcterms:W3CDTF">2026-03-06T04:47:16Z</dcterms:modified>
</cp:coreProperties>
</file>